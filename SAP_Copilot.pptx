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embeddedFontLst>
    <p:embeddedFont>
      <p:font typeface="Heebo"/>
      <p:regular r:id="rId10"/>
      <p:bold r:id="rId11"/>
    </p:embeddedFont>
    <p:embeddedFont>
      <p:font typeface="Crimson Pro SemiBold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ebo-bold.fntdata"/><Relationship Id="rId10" Type="http://schemas.openxmlformats.org/officeDocument/2006/relationships/font" Target="fonts/Heebo-regular.fntdata"/><Relationship Id="rId13" Type="http://schemas.openxmlformats.org/officeDocument/2006/relationships/font" Target="fonts/CrimsonProSemiBold-bold.fntdata"/><Relationship Id="rId12" Type="http://schemas.openxmlformats.org/officeDocument/2006/relationships/font" Target="fonts/CrimsonPro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rimsonProSemiBold-boldItalic.fntdata"/><Relationship Id="rId14" Type="http://schemas.openxmlformats.org/officeDocument/2006/relationships/font" Target="fonts/CrimsonPro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006974" y="1266825"/>
            <a:ext cx="1129978" cy="266402"/>
          </a:xfrm>
          <a:prstGeom prst="roundRect">
            <a:avLst>
              <a:gd fmla="val 6386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4092029" y="1309315"/>
            <a:ext cx="1417067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INTERNAL REVIEW</a:t>
            </a:r>
            <a:endParaRPr b="0" i="0" sz="85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2470696" y="1589931"/>
            <a:ext cx="420260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0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SAP Intelligence Platform</a:t>
            </a:r>
            <a:endParaRPr b="0" i="0" sz="2750" u="none" cap="none" strike="noStrike"/>
          </a:p>
        </p:txBody>
      </p:sp>
      <p:sp>
        <p:nvSpPr>
          <p:cNvPr id="39" name="Google Shape;39;p8"/>
          <p:cNvSpPr/>
          <p:nvPr/>
        </p:nvSpPr>
        <p:spPr>
          <a:xfrm>
            <a:off x="2040359" y="2089621"/>
            <a:ext cx="5063207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650"/>
              <a:buFont typeface="Crimson Pro SemiBold"/>
              <a:buNone/>
            </a:pPr>
            <a:r>
              <a:rPr b="0" i="0" lang="en-US" sz="16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Product Development Progress &amp; Strategic Direction</a:t>
            </a:r>
            <a:endParaRPr b="0" i="0" sz="1650" u="none" cap="none" strike="noStrike"/>
          </a:p>
        </p:txBody>
      </p:sp>
      <p:sp>
        <p:nvSpPr>
          <p:cNvPr id="40" name="Google Shape;40;p8"/>
          <p:cNvSpPr/>
          <p:nvPr/>
        </p:nvSpPr>
        <p:spPr>
          <a:xfrm>
            <a:off x="496119" y="2568029"/>
            <a:ext cx="4004965" cy="1308571"/>
          </a:xfrm>
          <a:prstGeom prst="roundRect">
            <a:avLst>
              <a:gd fmla="val 1625" name="adj"/>
            </a:avLst>
          </a:prstGeom>
          <a:solidFill>
            <a:srgbClr val="FFFFFF"/>
          </a:solidFill>
          <a:ln cap="flat" cmpd="sng" w="19050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656927" y="272883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Vision</a:t>
            </a:r>
            <a:endParaRPr b="0" i="0" sz="1350" u="none" cap="none" strike="noStrike"/>
          </a:p>
        </p:txBody>
      </p:sp>
      <p:sp>
        <p:nvSpPr>
          <p:cNvPr id="42" name="Google Shape;42;p8"/>
          <p:cNvSpPr/>
          <p:nvPr/>
        </p:nvSpPr>
        <p:spPr>
          <a:xfrm>
            <a:off x="656927" y="3035350"/>
            <a:ext cx="368334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Enable business users to access SAP insights through dashboards and natural language interactions.</a:t>
            </a:r>
            <a:endParaRPr b="0" i="0" sz="1100" u="none" cap="none" strike="noStrike"/>
          </a:p>
        </p:txBody>
      </p:sp>
      <p:sp>
        <p:nvSpPr>
          <p:cNvPr id="43" name="Google Shape;43;p8"/>
          <p:cNvSpPr/>
          <p:nvPr/>
        </p:nvSpPr>
        <p:spPr>
          <a:xfrm>
            <a:off x="4642842" y="2568029"/>
            <a:ext cx="4005039" cy="1308571"/>
          </a:xfrm>
          <a:prstGeom prst="roundRect">
            <a:avLst>
              <a:gd fmla="val 1625" name="adj"/>
            </a:avLst>
          </a:prstGeom>
          <a:solidFill>
            <a:srgbClr val="FFFFFF"/>
          </a:solidFill>
          <a:ln cap="flat" cmpd="sng" w="19050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4803651" y="272883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Current Status</a:t>
            </a:r>
            <a:endParaRPr b="0" i="0" sz="1350" u="none" cap="none" strike="noStrike"/>
          </a:p>
        </p:txBody>
      </p:sp>
      <p:sp>
        <p:nvSpPr>
          <p:cNvPr id="45" name="Google Shape;45;p8"/>
          <p:cNvSpPr/>
          <p:nvPr/>
        </p:nvSpPr>
        <p:spPr>
          <a:xfrm>
            <a:off x="4803651" y="3035350"/>
            <a:ext cx="36834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Strong platform foundation completed. Discovery and validation phase underway before SAP-specific development begins.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/>
          <p:nvPr/>
        </p:nvSpPr>
        <p:spPr>
          <a:xfrm>
            <a:off x="496119" y="1056754"/>
            <a:ext cx="1995339" cy="275927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215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585936" y="1104007"/>
            <a:ext cx="2272903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150FE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CURRENT STATE VS FUTURE STATE</a:t>
            </a:r>
            <a:endParaRPr b="0" i="0" sz="850" u="none" cap="none" strike="noStrike"/>
          </a:p>
        </p:txBody>
      </p:sp>
      <p:sp>
        <p:nvSpPr>
          <p:cNvPr id="53" name="Google Shape;53;p9"/>
          <p:cNvSpPr/>
          <p:nvPr/>
        </p:nvSpPr>
        <p:spPr>
          <a:xfrm>
            <a:off x="496119" y="1389385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0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The Opportunity</a:t>
            </a:r>
            <a:endParaRPr b="0" i="0" sz="2750" u="none" cap="none" strike="noStrike"/>
          </a:p>
        </p:txBody>
      </p:sp>
      <p:sp>
        <p:nvSpPr>
          <p:cNvPr id="54" name="Google Shape;54;p9"/>
          <p:cNvSpPr/>
          <p:nvPr/>
        </p:nvSpPr>
        <p:spPr>
          <a:xfrm>
            <a:off x="496119" y="2044973"/>
            <a:ext cx="8151763" cy="2041773"/>
          </a:xfrm>
          <a:prstGeom prst="roundRect">
            <a:avLst>
              <a:gd fmla="val 104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500881" y="2049735"/>
            <a:ext cx="8142238" cy="40645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642640" y="2139553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CURRENT STATE</a:t>
            </a:r>
            <a:endParaRPr b="0" i="0" sz="1100" u="none" cap="none" strike="noStrike"/>
          </a:p>
        </p:txBody>
      </p:sp>
      <p:sp>
        <p:nvSpPr>
          <p:cNvPr id="57" name="Google Shape;57;p9"/>
          <p:cNvSpPr/>
          <p:nvPr/>
        </p:nvSpPr>
        <p:spPr>
          <a:xfrm>
            <a:off x="4716140" y="2139553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FUTURE STATE</a:t>
            </a:r>
            <a:endParaRPr b="0" i="0" sz="1100" u="none" cap="none" strike="noStrike"/>
          </a:p>
        </p:txBody>
      </p:sp>
      <p:sp>
        <p:nvSpPr>
          <p:cNvPr id="58" name="Google Shape;58;p9"/>
          <p:cNvSpPr/>
          <p:nvPr/>
        </p:nvSpPr>
        <p:spPr>
          <a:xfrm>
            <a:off x="500881" y="2456185"/>
            <a:ext cx="8142238" cy="40645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/>
          <p:nvPr/>
        </p:nvSpPr>
        <p:spPr>
          <a:xfrm>
            <a:off x="642640" y="2546003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SAP knowledge required</a:t>
            </a:r>
            <a:endParaRPr b="0" i="0" sz="1100" u="none" cap="none" strike="noStrike"/>
          </a:p>
        </p:txBody>
      </p:sp>
      <p:sp>
        <p:nvSpPr>
          <p:cNvPr id="60" name="Google Shape;60;p9"/>
          <p:cNvSpPr/>
          <p:nvPr/>
        </p:nvSpPr>
        <p:spPr>
          <a:xfrm>
            <a:off x="4716140" y="2546003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Business-friendly experience</a:t>
            </a:r>
            <a:endParaRPr b="0" i="0" sz="1100" u="none" cap="none" strike="noStrike"/>
          </a:p>
        </p:txBody>
      </p:sp>
      <p:sp>
        <p:nvSpPr>
          <p:cNvPr id="61" name="Google Shape;61;p9"/>
          <p:cNvSpPr/>
          <p:nvPr/>
        </p:nvSpPr>
        <p:spPr>
          <a:xfrm>
            <a:off x="500881" y="2862635"/>
            <a:ext cx="8142238" cy="40645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642640" y="2952452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Manual reporting and exports</a:t>
            </a:r>
            <a:endParaRPr b="0" i="0" sz="1100" u="none" cap="none" strike="noStrike"/>
          </a:p>
        </p:txBody>
      </p:sp>
      <p:sp>
        <p:nvSpPr>
          <p:cNvPr id="63" name="Google Shape;63;p9"/>
          <p:cNvSpPr/>
          <p:nvPr/>
        </p:nvSpPr>
        <p:spPr>
          <a:xfrm>
            <a:off x="4716140" y="2952452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Self-service dashboards</a:t>
            </a:r>
            <a:endParaRPr b="0" i="0" sz="1100" u="none" cap="none" strike="noStrike"/>
          </a:p>
        </p:txBody>
      </p:sp>
      <p:sp>
        <p:nvSpPr>
          <p:cNvPr id="64" name="Google Shape;64;p9"/>
          <p:cNvSpPr/>
          <p:nvPr/>
        </p:nvSpPr>
        <p:spPr>
          <a:xfrm>
            <a:off x="500881" y="3269084"/>
            <a:ext cx="8142238" cy="40645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642640" y="3358902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IT dependency for every request</a:t>
            </a:r>
            <a:endParaRPr b="0" i="0" sz="1100" u="none" cap="none" strike="noStrike"/>
          </a:p>
        </p:txBody>
      </p:sp>
      <p:sp>
        <p:nvSpPr>
          <p:cNvPr id="66" name="Google Shape;66;p9"/>
          <p:cNvSpPr/>
          <p:nvPr/>
        </p:nvSpPr>
        <p:spPr>
          <a:xfrm>
            <a:off x="4716140" y="3358902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Faster decision-making</a:t>
            </a:r>
            <a:endParaRPr b="0" i="0" sz="1100" u="none" cap="none" strike="noStrike"/>
          </a:p>
        </p:txBody>
      </p:sp>
      <p:sp>
        <p:nvSpPr>
          <p:cNvPr id="67" name="Google Shape;67;p9"/>
          <p:cNvSpPr/>
          <p:nvPr/>
        </p:nvSpPr>
        <p:spPr>
          <a:xfrm>
            <a:off x="500881" y="3675534"/>
            <a:ext cx="8142238" cy="40645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642640" y="3765352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Slow access to information</a:t>
            </a:r>
            <a:endParaRPr b="0" i="0" sz="1100" u="none" cap="none" strike="noStrike"/>
          </a:p>
        </p:txBody>
      </p:sp>
      <p:sp>
        <p:nvSpPr>
          <p:cNvPr id="69" name="Google Shape;69;p9"/>
          <p:cNvSpPr/>
          <p:nvPr/>
        </p:nvSpPr>
        <p:spPr>
          <a:xfrm>
            <a:off x="4716140" y="3765352"/>
            <a:ext cx="42424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Governed enterprise access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496119" y="832396"/>
            <a:ext cx="1556296" cy="266402"/>
          </a:xfrm>
          <a:prstGeom prst="roundRect">
            <a:avLst>
              <a:gd fmla="val 6386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581174" y="874886"/>
            <a:ext cx="1843385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FOUNDATION &amp; PROGRESS</a:t>
            </a:r>
            <a:endParaRPr b="0" i="0" sz="850" u="none" cap="none" strike="noStrike"/>
          </a:p>
        </p:txBody>
      </p:sp>
      <p:sp>
        <p:nvSpPr>
          <p:cNvPr id="77" name="Google Shape;77;p10"/>
          <p:cNvSpPr/>
          <p:nvPr/>
        </p:nvSpPr>
        <p:spPr>
          <a:xfrm>
            <a:off x="496119" y="1155502"/>
            <a:ext cx="43759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0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We Have Built So Far</a:t>
            </a:r>
            <a:endParaRPr b="0" i="0" sz="2750" u="none" cap="none" strike="noStrike"/>
          </a:p>
        </p:txBody>
      </p:sp>
      <p:sp>
        <p:nvSpPr>
          <p:cNvPr id="78" name="Google Shape;78;p10"/>
          <p:cNvSpPr/>
          <p:nvPr/>
        </p:nvSpPr>
        <p:spPr>
          <a:xfrm>
            <a:off x="496119" y="1811089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Current Assessment: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Core platform foundation complete. SAP-specific validation underway.</a:t>
            </a:r>
            <a:endParaRPr b="0" i="0" sz="1100" u="none" cap="none" strike="noStrike"/>
          </a:p>
        </p:txBody>
      </p:sp>
      <p:sp>
        <p:nvSpPr>
          <p:cNvPr id="79" name="Google Shape;79;p10"/>
          <p:cNvSpPr/>
          <p:nvPr/>
        </p:nvSpPr>
        <p:spPr>
          <a:xfrm>
            <a:off x="496119" y="2565946"/>
            <a:ext cx="253618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COMPLETED FOUNDATION</a:t>
            </a:r>
            <a:endParaRPr b="0" i="0" sz="1350" u="none" cap="none" strike="noStrike"/>
          </a:p>
        </p:txBody>
      </p:sp>
      <p:sp>
        <p:nvSpPr>
          <p:cNvPr id="80" name="Google Shape;80;p10"/>
          <p:cNvSpPr/>
          <p:nvPr/>
        </p:nvSpPr>
        <p:spPr>
          <a:xfrm>
            <a:off x="496119" y="2929161"/>
            <a:ext cx="2458343" cy="133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Secure platform infrastructure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User authentication framework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AI orchestration layer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Document search capability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Cost governance system</a:t>
            </a:r>
            <a:endParaRPr b="0" i="0" sz="1100" u="none" cap="none" strike="noStrike"/>
          </a:p>
        </p:txBody>
      </p:sp>
      <p:sp>
        <p:nvSpPr>
          <p:cNvPr id="81" name="Google Shape;81;p10"/>
          <p:cNvSpPr/>
          <p:nvPr/>
        </p:nvSpPr>
        <p:spPr>
          <a:xfrm>
            <a:off x="3305101" y="2565946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 PROGRESS</a:t>
            </a:r>
            <a:endParaRPr b="0" i="0" sz="1350" u="none" cap="none" strike="noStrike"/>
          </a:p>
        </p:txBody>
      </p:sp>
      <p:sp>
        <p:nvSpPr>
          <p:cNvPr id="82" name="Google Shape;82;p10"/>
          <p:cNvSpPr/>
          <p:nvPr/>
        </p:nvSpPr>
        <p:spPr>
          <a:xfrm>
            <a:off x="3305101" y="2929161"/>
            <a:ext cx="2543249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SAP requirements validation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Business KPI discovery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Access model design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On-premise deployment architecture</a:t>
            </a:r>
            <a:endParaRPr b="0" i="0" sz="1100" u="none" cap="none" strike="noStrike"/>
          </a:p>
        </p:txBody>
      </p:sp>
      <p:sp>
        <p:nvSpPr>
          <p:cNvPr id="83" name="Google Shape;83;p10"/>
          <p:cNvSpPr/>
          <p:nvPr/>
        </p:nvSpPr>
        <p:spPr>
          <a:xfrm>
            <a:off x="6198989" y="2565946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PLANNED NEXT</a:t>
            </a:r>
            <a:endParaRPr b="0" i="0" sz="1350" u="none" cap="none" strike="noStrike"/>
          </a:p>
        </p:txBody>
      </p:sp>
      <p:sp>
        <p:nvSpPr>
          <p:cNvPr id="84" name="Google Shape;84;p10"/>
          <p:cNvSpPr/>
          <p:nvPr/>
        </p:nvSpPr>
        <p:spPr>
          <a:xfrm>
            <a:off x="6198989" y="2929161"/>
            <a:ext cx="2458343" cy="105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SAP data connectivity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Business intelligence layer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Dashboard experience</a:t>
            </a:r>
            <a:endParaRPr b="0" i="0" sz="1100" u="none" cap="none" strike="noStrike"/>
          </a:p>
          <a:p>
            <a:pPr indent="-342900" lvl="0" marL="3429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Char char="•"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Enterprise controls &amp; audit trail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496119" y="871240"/>
            <a:ext cx="1148432" cy="266402"/>
          </a:xfrm>
          <a:prstGeom prst="roundRect">
            <a:avLst>
              <a:gd fmla="val 6386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581174" y="913730"/>
            <a:ext cx="1435522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DISCOVERY FOCUS</a:t>
            </a:r>
            <a:endParaRPr b="0" i="0" sz="850" u="none" cap="none" strike="noStrike"/>
          </a:p>
        </p:txBody>
      </p:sp>
      <p:sp>
        <p:nvSpPr>
          <p:cNvPr id="92" name="Google Shape;92;p11"/>
          <p:cNvSpPr/>
          <p:nvPr/>
        </p:nvSpPr>
        <p:spPr>
          <a:xfrm>
            <a:off x="496119" y="1194346"/>
            <a:ext cx="7024985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0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We Are Validating Before Development</a:t>
            </a:r>
            <a:endParaRPr b="0" i="0" sz="2750" u="none" cap="none" strike="noStrike"/>
          </a:p>
        </p:txBody>
      </p:sp>
      <p:sp>
        <p:nvSpPr>
          <p:cNvPr id="93" name="Google Shape;93;p11"/>
          <p:cNvSpPr/>
          <p:nvPr/>
        </p:nvSpPr>
        <p:spPr>
          <a:xfrm>
            <a:off x="496119" y="1849934"/>
            <a:ext cx="2622724" cy="2035969"/>
          </a:xfrm>
          <a:prstGeom prst="roundRect">
            <a:avLst>
              <a:gd fmla="val 104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637877" y="199169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SAP READINESS</a:t>
            </a:r>
            <a:endParaRPr b="0" i="0" sz="1350" u="none" cap="none" strike="noStrike"/>
          </a:p>
        </p:txBody>
      </p:sp>
      <p:sp>
        <p:nvSpPr>
          <p:cNvPr id="95" name="Google Shape;95;p11"/>
          <p:cNvSpPr/>
          <p:nvPr/>
        </p:nvSpPr>
        <p:spPr>
          <a:xfrm>
            <a:off x="637877" y="2298204"/>
            <a:ext cx="2339206" cy="1219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we need to learn: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OData availability, data model complexity, authentication integration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Determines technical feasibility and integration approach</a:t>
            </a:r>
            <a:endParaRPr b="0" i="0" sz="1100" u="none" cap="none" strike="noStrike"/>
          </a:p>
        </p:txBody>
      </p:sp>
      <p:sp>
        <p:nvSpPr>
          <p:cNvPr id="96" name="Google Shape;96;p11"/>
          <p:cNvSpPr/>
          <p:nvPr/>
        </p:nvSpPr>
        <p:spPr>
          <a:xfrm>
            <a:off x="3260601" y="1849934"/>
            <a:ext cx="2622724" cy="2035969"/>
          </a:xfrm>
          <a:prstGeom prst="roundRect">
            <a:avLst>
              <a:gd fmla="val 104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3402360" y="1991692"/>
            <a:ext cx="20448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BUSINESS REQUIREMENTS</a:t>
            </a:r>
            <a:endParaRPr b="0" i="0" sz="1350" u="none" cap="none" strike="noStrike"/>
          </a:p>
        </p:txBody>
      </p:sp>
      <p:sp>
        <p:nvSpPr>
          <p:cNvPr id="98" name="Google Shape;98;p11"/>
          <p:cNvSpPr/>
          <p:nvPr/>
        </p:nvSpPr>
        <p:spPr>
          <a:xfrm>
            <a:off x="3402360" y="2298204"/>
            <a:ext cx="2339206" cy="1219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we need to learn: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Top KPIs, reporting workflows, access control needs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Ensures we build what business teams actually need</a:t>
            </a:r>
            <a:endParaRPr b="0" i="0" sz="1100" u="none" cap="none" strike="noStrike"/>
          </a:p>
        </p:txBody>
      </p:sp>
      <p:sp>
        <p:nvSpPr>
          <p:cNvPr id="99" name="Google Shape;99;p11"/>
          <p:cNvSpPr/>
          <p:nvPr/>
        </p:nvSpPr>
        <p:spPr>
          <a:xfrm>
            <a:off x="6025083" y="1849934"/>
            <a:ext cx="2622724" cy="2035969"/>
          </a:xfrm>
          <a:prstGeom prst="roundRect">
            <a:avLst>
              <a:gd fmla="val 104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6166842" y="1991692"/>
            <a:ext cx="20507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0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GOVERNANCE &amp; SECURITY</a:t>
            </a:r>
            <a:endParaRPr b="0" i="0" sz="1350" u="none" cap="none" strike="noStrike"/>
          </a:p>
        </p:txBody>
      </p:sp>
      <p:sp>
        <p:nvSpPr>
          <p:cNvPr id="101" name="Google Shape;101;p11"/>
          <p:cNvSpPr/>
          <p:nvPr/>
        </p:nvSpPr>
        <p:spPr>
          <a:xfrm>
            <a:off x="6166842" y="2298204"/>
            <a:ext cx="2339206" cy="144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we need to learn: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Compliance requirements, audit trail needs, on-premise constraints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Prevents costly rework and ensures enterprise readiness</a:t>
            </a:r>
            <a:endParaRPr b="0" i="0" sz="1100" u="none" cap="none" strike="noStrike"/>
          </a:p>
        </p:txBody>
      </p:sp>
      <p:sp>
        <p:nvSpPr>
          <p:cNvPr id="102" name="Google Shape;102;p11"/>
          <p:cNvSpPr/>
          <p:nvPr/>
        </p:nvSpPr>
        <p:spPr>
          <a:xfrm>
            <a:off x="496119" y="4045372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 validate requirements before development to avoid building the wrong solution and reduce implementation risk.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/>
        </p:nvSpPr>
        <p:spPr>
          <a:xfrm>
            <a:off x="472901" y="390748"/>
            <a:ext cx="1596777" cy="249882"/>
          </a:xfrm>
          <a:prstGeom prst="roundRect">
            <a:avLst>
              <a:gd fmla="val 6489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553938" y="431229"/>
            <a:ext cx="1891903" cy="1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CRITICAL SUCCESS FACTORS</a:t>
            </a:r>
            <a:endParaRPr b="0" i="0" sz="850" u="none" cap="none" strike="noStrike"/>
          </a:p>
        </p:txBody>
      </p:sp>
      <p:sp>
        <p:nvSpPr>
          <p:cNvPr id="110" name="Google Shape;110;p12"/>
          <p:cNvSpPr/>
          <p:nvPr/>
        </p:nvSpPr>
        <p:spPr>
          <a:xfrm>
            <a:off x="472901" y="692125"/>
            <a:ext cx="6055742" cy="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650"/>
              <a:buFont typeface="Crimson Pro SemiBold"/>
              <a:buNone/>
            </a:pPr>
            <a:r>
              <a:rPr b="0" i="0" lang="en-US" sz="26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Leadership Decisions &amp; Support Needed</a:t>
            </a:r>
            <a:endParaRPr b="0" i="0" sz="2650" u="none" cap="none" strike="noStrike"/>
          </a:p>
        </p:txBody>
      </p:sp>
      <p:sp>
        <p:nvSpPr>
          <p:cNvPr id="111" name="Google Shape;111;p12"/>
          <p:cNvSpPr/>
          <p:nvPr/>
        </p:nvSpPr>
        <p:spPr>
          <a:xfrm>
            <a:off x="472901" y="1307604"/>
            <a:ext cx="4034730" cy="1480170"/>
          </a:xfrm>
          <a:prstGeom prst="roundRect">
            <a:avLst>
              <a:gd fmla="val 1369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607963" y="1442665"/>
            <a:ext cx="1760562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STRATEGIC ALIGNMENT</a:t>
            </a:r>
            <a:endParaRPr b="0" i="0" sz="1300" u="none" cap="none" strike="noStrike"/>
          </a:p>
        </p:txBody>
      </p:sp>
      <p:sp>
        <p:nvSpPr>
          <p:cNvPr id="113" name="Google Shape;113;p12"/>
          <p:cNvSpPr/>
          <p:nvPr/>
        </p:nvSpPr>
        <p:spPr>
          <a:xfrm>
            <a:off x="607963" y="1731020"/>
            <a:ext cx="3764607" cy="921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needed: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Confirm strategic direction and identify executive sponsor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Ensures leadership alignment and removes blockers</a:t>
            </a:r>
            <a:endParaRPr b="0" i="0" sz="1050" u="none" cap="none" strike="noStrike"/>
          </a:p>
        </p:txBody>
      </p:sp>
      <p:sp>
        <p:nvSpPr>
          <p:cNvPr id="114" name="Google Shape;114;p12"/>
          <p:cNvSpPr/>
          <p:nvPr/>
        </p:nvSpPr>
        <p:spPr>
          <a:xfrm>
            <a:off x="4636368" y="1307604"/>
            <a:ext cx="4034730" cy="1480170"/>
          </a:xfrm>
          <a:prstGeom prst="roundRect">
            <a:avLst>
              <a:gd fmla="val 1369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4771430" y="1442665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SAP SYSTEM ACCESS</a:t>
            </a:r>
            <a:endParaRPr b="0" i="0" sz="1300" u="none" cap="none" strike="noStrike"/>
          </a:p>
        </p:txBody>
      </p:sp>
      <p:sp>
        <p:nvSpPr>
          <p:cNvPr id="116" name="Google Shape;116;p12"/>
          <p:cNvSpPr/>
          <p:nvPr/>
        </p:nvSpPr>
        <p:spPr>
          <a:xfrm>
            <a:off x="4771430" y="1731020"/>
            <a:ext cx="3764607" cy="7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needed: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Access to development/test systems and SAP technical resource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Required to validate technical feasibility</a:t>
            </a:r>
            <a:endParaRPr b="0" i="0" sz="1050" u="none" cap="none" strike="noStrike"/>
          </a:p>
        </p:txBody>
      </p:sp>
      <p:sp>
        <p:nvSpPr>
          <p:cNvPr id="117" name="Google Shape;117;p12"/>
          <p:cNvSpPr/>
          <p:nvPr/>
        </p:nvSpPr>
        <p:spPr>
          <a:xfrm>
            <a:off x="472901" y="2916510"/>
            <a:ext cx="4034730" cy="1480170"/>
          </a:xfrm>
          <a:prstGeom prst="roundRect">
            <a:avLst>
              <a:gd fmla="val 1369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607963" y="3051572"/>
            <a:ext cx="3011388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BUSINESS STAKEHOLDER PARTICIPATION</a:t>
            </a:r>
            <a:endParaRPr b="0" i="0" sz="1300" u="none" cap="none" strike="noStrike"/>
          </a:p>
        </p:txBody>
      </p:sp>
      <p:sp>
        <p:nvSpPr>
          <p:cNvPr id="119" name="Google Shape;119;p12"/>
          <p:cNvSpPr/>
          <p:nvPr/>
        </p:nvSpPr>
        <p:spPr>
          <a:xfrm>
            <a:off x="607963" y="3339926"/>
            <a:ext cx="3764607" cy="7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needed: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Commitment from business leaders for requirements interviews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Ensures we understand real business needs</a:t>
            </a:r>
            <a:endParaRPr b="0" i="0" sz="1050" u="none" cap="none" strike="noStrike"/>
          </a:p>
        </p:txBody>
      </p:sp>
      <p:sp>
        <p:nvSpPr>
          <p:cNvPr id="120" name="Google Shape;120;p12"/>
          <p:cNvSpPr/>
          <p:nvPr/>
        </p:nvSpPr>
        <p:spPr>
          <a:xfrm>
            <a:off x="4636368" y="2916510"/>
            <a:ext cx="4034730" cy="1480170"/>
          </a:xfrm>
          <a:prstGeom prst="roundRect">
            <a:avLst>
              <a:gd fmla="val 1369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4771430" y="3051572"/>
            <a:ext cx="1933203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00"/>
              <a:buFont typeface="Crimson Pro SemiBold"/>
              <a:buNone/>
            </a:pPr>
            <a:r>
              <a:rPr b="0" i="0" lang="en-US" sz="13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RESOURCE COMMITMENT</a:t>
            </a:r>
            <a:endParaRPr b="0" i="0" sz="1300" u="none" cap="none" strike="noStrike"/>
          </a:p>
        </p:txBody>
      </p:sp>
      <p:sp>
        <p:nvSpPr>
          <p:cNvPr id="122" name="Google Shape;122;p12"/>
          <p:cNvSpPr/>
          <p:nvPr/>
        </p:nvSpPr>
        <p:spPr>
          <a:xfrm>
            <a:off x="4771430" y="3339926"/>
            <a:ext cx="3764607" cy="921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What is needed: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Dedicated product team and SAP technical expertise</a:t>
            </a:r>
            <a:endParaRPr b="0" i="0" sz="105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Why it matters: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Enables timely completion of discovery and Phase 2 development</a:t>
            </a:r>
            <a:endParaRPr b="0" i="0" sz="1050" u="none" cap="none" strike="noStrike"/>
          </a:p>
        </p:txBody>
      </p:sp>
      <p:sp>
        <p:nvSpPr>
          <p:cNvPr id="123" name="Google Shape;123;p12"/>
          <p:cNvSpPr/>
          <p:nvPr/>
        </p:nvSpPr>
        <p:spPr>
          <a:xfrm>
            <a:off x="472901" y="4541565"/>
            <a:ext cx="8655397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050"/>
              <a:buFont typeface="Heebo"/>
              <a:buNone/>
            </a:pPr>
            <a:r>
              <a:rPr b="1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IMMEDIATE NEXT STEP:</a:t>
            </a:r>
            <a:r>
              <a:rPr b="0" i="0" lang="en-US" sz="10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Complete discovery and validation, then begin SAP integration and intelligence-layer development.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